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iofQG85HVIlGW9T0AhdCKh1Mtk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6fd7a65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g3d86fd7a656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8cefe333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a8cefe333f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8cefe333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g3a8cefe333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8cefe333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a8cefe333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8cefe333f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8cefe333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8cefe333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a8cefe333f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8cefe333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a8cefe333f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8cefe333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a8cefe333f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cefe333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a8cefe333f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8cefe333f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a8cefe333f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8cefe333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a8cefe333f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8cefe333f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a8cefe333f_0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8cefe333f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a8cefe333f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cefe333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a8cefe333f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8cefe333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a8cefe333f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8cefe333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a8cefe333f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8cefe333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a8cefe333f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8cefe333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a8cefe333f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Slide de tí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0"/>
          <p:cNvSpPr txBox="1"/>
          <p:nvPr>
            <p:ph type="title"/>
          </p:nvPr>
        </p:nvSpPr>
        <p:spPr>
          <a:xfrm>
            <a:off x="347623" y="1506433"/>
            <a:ext cx="8426083" cy="669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" type="body"/>
          </p:nvPr>
        </p:nvSpPr>
        <p:spPr>
          <a:xfrm>
            <a:off x="355600" y="2176463"/>
            <a:ext cx="8387878" cy="287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2" type="body"/>
          </p:nvPr>
        </p:nvSpPr>
        <p:spPr>
          <a:xfrm>
            <a:off x="364417" y="2517789"/>
            <a:ext cx="8379061" cy="287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75818B"/>
                </a:solidFill>
              </a:defRPr>
            </a:lvl1pPr>
            <a:lvl2pPr lvl="1">
              <a:buNone/>
              <a:defRPr>
                <a:solidFill>
                  <a:srgbClr val="75818B"/>
                </a:solidFill>
              </a:defRPr>
            </a:lvl2pPr>
            <a:lvl3pPr lvl="2">
              <a:buNone/>
              <a:defRPr>
                <a:solidFill>
                  <a:srgbClr val="75818B"/>
                </a:solidFill>
              </a:defRPr>
            </a:lvl3pPr>
            <a:lvl4pPr lvl="3">
              <a:buNone/>
              <a:defRPr>
                <a:solidFill>
                  <a:srgbClr val="75818B"/>
                </a:solidFill>
              </a:defRPr>
            </a:lvl4pPr>
            <a:lvl5pPr lvl="4">
              <a:buNone/>
              <a:defRPr>
                <a:solidFill>
                  <a:srgbClr val="75818B"/>
                </a:solidFill>
              </a:defRPr>
            </a:lvl5pPr>
            <a:lvl6pPr lvl="5">
              <a:buNone/>
              <a:defRPr>
                <a:solidFill>
                  <a:srgbClr val="75818B"/>
                </a:solidFill>
              </a:defRPr>
            </a:lvl6pPr>
            <a:lvl7pPr lvl="6">
              <a:buNone/>
              <a:defRPr>
                <a:solidFill>
                  <a:srgbClr val="75818B"/>
                </a:solidFill>
              </a:defRPr>
            </a:lvl7pPr>
            <a:lvl8pPr lvl="7">
              <a:buNone/>
              <a:defRPr>
                <a:solidFill>
                  <a:srgbClr val="75818B"/>
                </a:solidFill>
              </a:defRPr>
            </a:lvl8pPr>
            <a:lvl9pPr lvl="8">
              <a:buNone/>
              <a:defRPr>
                <a:solidFill>
                  <a:srgbClr val="75818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>
  <p:cSld name="Somente tí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75818B"/>
                </a:solidFill>
              </a:defRPr>
            </a:lvl1pPr>
            <a:lvl2pPr lvl="1">
              <a:buNone/>
              <a:defRPr>
                <a:solidFill>
                  <a:srgbClr val="75818B"/>
                </a:solidFill>
              </a:defRPr>
            </a:lvl2pPr>
            <a:lvl3pPr lvl="2">
              <a:buNone/>
              <a:defRPr>
                <a:solidFill>
                  <a:srgbClr val="75818B"/>
                </a:solidFill>
              </a:defRPr>
            </a:lvl3pPr>
            <a:lvl4pPr lvl="3">
              <a:buNone/>
              <a:defRPr>
                <a:solidFill>
                  <a:srgbClr val="75818B"/>
                </a:solidFill>
              </a:defRPr>
            </a:lvl4pPr>
            <a:lvl5pPr lvl="4">
              <a:buNone/>
              <a:defRPr>
                <a:solidFill>
                  <a:srgbClr val="75818B"/>
                </a:solidFill>
              </a:defRPr>
            </a:lvl5pPr>
            <a:lvl6pPr lvl="5">
              <a:buNone/>
              <a:defRPr>
                <a:solidFill>
                  <a:srgbClr val="75818B"/>
                </a:solidFill>
              </a:defRPr>
            </a:lvl6pPr>
            <a:lvl7pPr lvl="6">
              <a:buNone/>
              <a:defRPr>
                <a:solidFill>
                  <a:srgbClr val="75818B"/>
                </a:solidFill>
              </a:defRPr>
            </a:lvl7pPr>
            <a:lvl8pPr lvl="7">
              <a:buNone/>
              <a:defRPr>
                <a:solidFill>
                  <a:srgbClr val="75818B"/>
                </a:solidFill>
              </a:defRPr>
            </a:lvl8pPr>
            <a:lvl9pPr lvl="8">
              <a:buNone/>
              <a:defRPr>
                <a:solidFill>
                  <a:srgbClr val="75818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" type="body"/>
          </p:nvPr>
        </p:nvSpPr>
        <p:spPr>
          <a:xfrm>
            <a:off x="193637" y="1398588"/>
            <a:ext cx="8756726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5"/>
          <p:cNvSpPr txBox="1"/>
          <p:nvPr>
            <p:ph idx="2" type="body"/>
          </p:nvPr>
        </p:nvSpPr>
        <p:spPr>
          <a:xfrm>
            <a:off x="193637" y="1905992"/>
            <a:ext cx="875672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3" type="body"/>
          </p:nvPr>
        </p:nvSpPr>
        <p:spPr>
          <a:xfrm>
            <a:off x="193636" y="2284300"/>
            <a:ext cx="8756727" cy="361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5"/>
          <p:cNvSpPr txBox="1"/>
          <p:nvPr>
            <p:ph idx="4" type="body"/>
          </p:nvPr>
        </p:nvSpPr>
        <p:spPr>
          <a:xfrm>
            <a:off x="193636" y="2667694"/>
            <a:ext cx="8756727" cy="258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75818B"/>
                </a:solidFill>
              </a:defRPr>
            </a:lvl1pPr>
            <a:lvl2pPr lvl="1">
              <a:buNone/>
              <a:defRPr>
                <a:solidFill>
                  <a:srgbClr val="75818B"/>
                </a:solidFill>
              </a:defRPr>
            </a:lvl2pPr>
            <a:lvl3pPr lvl="2">
              <a:buNone/>
              <a:defRPr>
                <a:solidFill>
                  <a:srgbClr val="75818B"/>
                </a:solidFill>
              </a:defRPr>
            </a:lvl3pPr>
            <a:lvl4pPr lvl="3">
              <a:buNone/>
              <a:defRPr>
                <a:solidFill>
                  <a:srgbClr val="75818B"/>
                </a:solidFill>
              </a:defRPr>
            </a:lvl4pPr>
            <a:lvl5pPr lvl="4">
              <a:buNone/>
              <a:defRPr>
                <a:solidFill>
                  <a:srgbClr val="75818B"/>
                </a:solidFill>
              </a:defRPr>
            </a:lvl5pPr>
            <a:lvl6pPr lvl="5">
              <a:buNone/>
              <a:defRPr>
                <a:solidFill>
                  <a:srgbClr val="75818B"/>
                </a:solidFill>
              </a:defRPr>
            </a:lvl6pPr>
            <a:lvl7pPr lvl="6">
              <a:buNone/>
              <a:defRPr>
                <a:solidFill>
                  <a:srgbClr val="75818B"/>
                </a:solidFill>
              </a:defRPr>
            </a:lvl7pPr>
            <a:lvl8pPr lvl="7">
              <a:buNone/>
              <a:defRPr>
                <a:solidFill>
                  <a:srgbClr val="75818B"/>
                </a:solidFill>
              </a:defRPr>
            </a:lvl8pPr>
            <a:lvl9pPr lvl="8">
              <a:buNone/>
              <a:defRPr>
                <a:solidFill>
                  <a:srgbClr val="75818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>
  <p:cSld name="Duas Partes de Conteú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28650" y="163198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em branco">
  <p:cSld name="Slide em bran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>
  <p:cSld name="Conteúdo com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1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uas Partes de Conteúdo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1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818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1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75818B"/>
                </a:solidFill>
              </a:defRPr>
            </a:lvl1pPr>
            <a:lvl2pPr lvl="1">
              <a:buNone/>
              <a:defRPr>
                <a:solidFill>
                  <a:srgbClr val="75818B"/>
                </a:solidFill>
              </a:defRPr>
            </a:lvl2pPr>
            <a:lvl3pPr lvl="2">
              <a:buNone/>
              <a:defRPr>
                <a:solidFill>
                  <a:srgbClr val="75818B"/>
                </a:solidFill>
              </a:defRPr>
            </a:lvl3pPr>
            <a:lvl4pPr lvl="3">
              <a:buNone/>
              <a:defRPr>
                <a:solidFill>
                  <a:srgbClr val="75818B"/>
                </a:solidFill>
              </a:defRPr>
            </a:lvl4pPr>
            <a:lvl5pPr lvl="4">
              <a:buNone/>
              <a:defRPr>
                <a:solidFill>
                  <a:srgbClr val="75818B"/>
                </a:solidFill>
              </a:defRPr>
            </a:lvl5pPr>
            <a:lvl6pPr lvl="5">
              <a:buNone/>
              <a:defRPr>
                <a:solidFill>
                  <a:srgbClr val="75818B"/>
                </a:solidFill>
              </a:defRPr>
            </a:lvl6pPr>
            <a:lvl7pPr lvl="6">
              <a:buNone/>
              <a:defRPr>
                <a:solidFill>
                  <a:srgbClr val="75818B"/>
                </a:solidFill>
              </a:defRPr>
            </a:lvl7pPr>
            <a:lvl8pPr lvl="7">
              <a:buNone/>
              <a:defRPr>
                <a:solidFill>
                  <a:srgbClr val="75818B"/>
                </a:solidFill>
              </a:defRPr>
            </a:lvl8pPr>
            <a:lvl9pPr lvl="8">
              <a:buNone/>
              <a:defRPr>
                <a:solidFill>
                  <a:srgbClr val="75818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údo com Legenda">
  <p:cSld name="1_Conteúdo com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5567363" y="449263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5567363" y="2049463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818B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8"/>
          <p:cNvSpPr/>
          <p:nvPr>
            <p:ph idx="2" type="pic"/>
          </p:nvPr>
        </p:nvSpPr>
        <p:spPr>
          <a:xfrm>
            <a:off x="563278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texto">
  <p:cSld name="Imagem com tex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/>
          <p:nvPr>
            <p:ph idx="2" type="pic"/>
          </p:nvPr>
        </p:nvSpPr>
        <p:spPr>
          <a:xfrm>
            <a:off x="629841" y="1944895"/>
            <a:ext cx="3740146" cy="3937671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581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9"/>
          <p:cNvSpPr txBox="1"/>
          <p:nvPr>
            <p:ph idx="1" type="body"/>
          </p:nvPr>
        </p:nvSpPr>
        <p:spPr>
          <a:xfrm>
            <a:off x="4593514" y="1944895"/>
            <a:ext cx="3921835" cy="3937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15.jpg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title"/>
          </p:nvPr>
        </p:nvSpPr>
        <p:spPr>
          <a:xfrm>
            <a:off x="347623" y="1506433"/>
            <a:ext cx="8426083" cy="669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500"/>
              <a:t>Verificação formal de um software de controle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500"/>
              <a:t>de semáforos em tempo real</a:t>
            </a:r>
            <a:endParaRPr sz="3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t/>
            </a:r>
            <a:endParaRPr sz="3500"/>
          </a:p>
        </p:txBody>
      </p:sp>
      <p:sp>
        <p:nvSpPr>
          <p:cNvPr id="59" name="Google Shape;59;p1"/>
          <p:cNvSpPr txBox="1"/>
          <p:nvPr>
            <p:ph idx="1" type="body"/>
          </p:nvPr>
        </p:nvSpPr>
        <p:spPr>
          <a:xfrm>
            <a:off x="355600" y="2232612"/>
            <a:ext cx="8387878" cy="287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1800"/>
              <a:buNone/>
            </a:pPr>
            <a:r>
              <a:rPr b="1" lang="pt-BR" sz="1800"/>
              <a:t>Igor Becker Boos - Jean Carlos Dapper  </a:t>
            </a:r>
            <a:endParaRPr sz="170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60" name="Google Shape;60;p1"/>
          <p:cNvSpPr txBox="1"/>
          <p:nvPr>
            <p:ph idx="2" type="body"/>
          </p:nvPr>
        </p:nvSpPr>
        <p:spPr>
          <a:xfrm>
            <a:off x="364417" y="2557894"/>
            <a:ext cx="8379061" cy="287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1600"/>
              <a:buNone/>
            </a:pPr>
            <a:r>
              <a:rPr lang="pt-BR"/>
              <a:t>PPGESE | Joinville</a:t>
            </a:r>
            <a:endParaRPr/>
          </a:p>
        </p:txBody>
      </p:sp>
      <p:sp>
        <p:nvSpPr>
          <p:cNvPr id="61" name="Google Shape;61;p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86fd7a656_0_4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67" name="Google Shape;67;g3d86fd7a656_0_4"/>
          <p:cNvSpPr txBox="1"/>
          <p:nvPr>
            <p:ph idx="1" type="body"/>
          </p:nvPr>
        </p:nvSpPr>
        <p:spPr>
          <a:xfrm>
            <a:off x="628650" y="758847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pt-BR" sz="2300">
                <a:solidFill>
                  <a:schemeClr val="dk1"/>
                </a:solidFill>
              </a:rPr>
              <a:t>Controle semafórico é um problema crítico em sistemas urbanos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pt-BR" sz="2300">
                <a:solidFill>
                  <a:schemeClr val="dk1"/>
                </a:solidFill>
              </a:rPr>
              <a:t>Sistemas embarcados exigem: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pt-BR" sz="2300">
                <a:solidFill>
                  <a:schemeClr val="dk1"/>
                </a:solidFill>
              </a:rPr>
              <a:t>Confiabilidade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pt-BR" sz="2300">
                <a:solidFill>
                  <a:schemeClr val="dk1"/>
                </a:solidFill>
              </a:rPr>
              <a:t>Determinismo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pt-BR" sz="2300">
                <a:solidFill>
                  <a:schemeClr val="dk1"/>
                </a:solidFill>
              </a:rPr>
              <a:t>Segurança funcional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pt-BR" sz="2300">
                <a:solidFill>
                  <a:schemeClr val="dk1"/>
                </a:solidFill>
              </a:rPr>
              <a:t>Trabalho propõe: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pt-BR" sz="2300">
                <a:solidFill>
                  <a:schemeClr val="dk1"/>
                </a:solidFill>
              </a:rPr>
              <a:t>Desenvolvimento do controlador em C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pt-BR" sz="2300">
                <a:solidFill>
                  <a:schemeClr val="dk1"/>
                </a:solidFill>
              </a:rPr>
              <a:t>Testes unitários com Unity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pt-BR" sz="2300">
                <a:solidFill>
                  <a:schemeClr val="dk1"/>
                </a:solidFill>
              </a:rPr>
              <a:t>Verificação formal com UPPAAL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pt-BR" sz="2300">
                <a:solidFill>
                  <a:schemeClr val="dk1"/>
                </a:solidFill>
              </a:rPr>
              <a:t>Objetivo:</a:t>
            </a:r>
            <a:endParaRPr sz="2300">
              <a:solidFill>
                <a:schemeClr val="dk1"/>
              </a:solidFill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pt-BR" sz="2300">
                <a:solidFill>
                  <a:schemeClr val="dk1"/>
                </a:solidFill>
              </a:rPr>
              <a:t>Garantir corretude temporal e segurança do sistema</a:t>
            </a:r>
            <a:endParaRPr sz="23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68" name="Google Shape;68;g3d86fd7a656_0_4"/>
          <p:cNvSpPr txBox="1"/>
          <p:nvPr>
            <p:ph idx="12" type="sldNum"/>
          </p:nvPr>
        </p:nvSpPr>
        <p:spPr>
          <a:xfrm>
            <a:off x="8549622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8cefe333f_0_60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ESPECIFICAÇÃO DO SISTEMA</a:t>
            </a:r>
            <a:endParaRPr/>
          </a:p>
        </p:txBody>
      </p:sp>
      <p:pic>
        <p:nvPicPr>
          <p:cNvPr id="74" name="Google Shape;74;g3a8cefe333f_0_60" title="sistem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0775" y="1613426"/>
            <a:ext cx="4610100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a8cefe333f_0_6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8cefe333f_0_5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E</a:t>
            </a:r>
            <a:r>
              <a:rPr lang="pt-BR"/>
              <a:t>SPECIFICAÇÃO DO SISTEMA</a:t>
            </a:r>
            <a:endParaRPr/>
          </a:p>
        </p:txBody>
      </p:sp>
      <p:sp>
        <p:nvSpPr>
          <p:cNvPr id="81" name="Google Shape;81;g3a8cefe333f_0_5"/>
          <p:cNvSpPr txBox="1"/>
          <p:nvPr>
            <p:ph idx="1" type="body"/>
          </p:nvPr>
        </p:nvSpPr>
        <p:spPr>
          <a:xfrm>
            <a:off x="114500" y="1566725"/>
            <a:ext cx="5055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100">
                <a:solidFill>
                  <a:schemeClr val="dk1"/>
                </a:solidFill>
              </a:rPr>
              <a:t>Características do sistema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Cruzamento entre Rua A e Rua B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Dois semáforos veiculares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Um semáforo de pedestres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Máquina de estados temporizada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Alternância automática: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pt-BR" sz="2100">
                <a:solidFill>
                  <a:schemeClr val="dk1"/>
                </a:solidFill>
              </a:rPr>
              <a:t>Verde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pt-BR" sz="2100">
                <a:solidFill>
                  <a:schemeClr val="dk1"/>
                </a:solidFill>
              </a:rPr>
              <a:t>Amarelo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pt-BR" sz="2100">
                <a:solidFill>
                  <a:schemeClr val="dk1"/>
                </a:solidFill>
              </a:rPr>
              <a:t>Vermelho</a:t>
            </a:r>
            <a:endParaRPr sz="2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82" name="Google Shape;82;g3a8cefe333f_0_5"/>
          <p:cNvSpPr txBox="1"/>
          <p:nvPr>
            <p:ph idx="2" type="body"/>
          </p:nvPr>
        </p:nvSpPr>
        <p:spPr>
          <a:xfrm>
            <a:off x="4934925" y="1566725"/>
            <a:ext cx="4152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100">
                <a:solidFill>
                  <a:schemeClr val="dk1"/>
                </a:solidFill>
              </a:rPr>
              <a:t>Funcionalidades adicionais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Solicitação de travessia de pedestres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Modo emergência/manutenção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pt-BR" sz="2100">
                <a:solidFill>
                  <a:schemeClr val="dk1"/>
                </a:solidFill>
              </a:rPr>
              <a:t>Estados seguros com “todos vermelhos”</a:t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id="83" name="Google Shape;83;g3a8cefe333f_0_5" title="sistem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9825" y="3889806"/>
            <a:ext cx="2315775" cy="232056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a8cefe333f_0_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8cefe333f_0_11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R</a:t>
            </a:r>
            <a:r>
              <a:rPr lang="pt-BR"/>
              <a:t>EQUISITOS FUNCIONAIS</a:t>
            </a:r>
            <a:endParaRPr/>
          </a:p>
        </p:txBody>
      </p:sp>
      <p:pic>
        <p:nvPicPr>
          <p:cNvPr id="90" name="Google Shape;90;g3a8cefe333f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50" y="1225651"/>
            <a:ext cx="4215339" cy="486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a8cefe333f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6939" y="1226851"/>
            <a:ext cx="4267210" cy="40978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a8cefe333f_0_1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8cefe333f_0_70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REQUISITOS FUNCIONAIS</a:t>
            </a:r>
            <a:endParaRPr/>
          </a:p>
        </p:txBody>
      </p:sp>
      <p:sp>
        <p:nvSpPr>
          <p:cNvPr id="98" name="Google Shape;98;g3a8cefe333f_0_70"/>
          <p:cNvSpPr txBox="1"/>
          <p:nvPr>
            <p:ph idx="1" type="body"/>
          </p:nvPr>
        </p:nvSpPr>
        <p:spPr>
          <a:xfrm>
            <a:off x="628650" y="1446924"/>
            <a:ext cx="5916900" cy="26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900">
                <a:solidFill>
                  <a:schemeClr val="dk1"/>
                </a:solidFill>
              </a:rPr>
              <a:t>Principais requisitos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pt-BR" sz="1900">
                <a:solidFill>
                  <a:schemeClr val="dk1"/>
                </a:solidFill>
              </a:rPr>
              <a:t>Apenas uma rua pode ter verde por vez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pt-BR" sz="1900">
                <a:solidFill>
                  <a:schemeClr val="dk1"/>
                </a:solidFill>
              </a:rPr>
              <a:t>Estado amarelo obrigatório antes do vermelho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pt-BR" sz="1900">
                <a:solidFill>
                  <a:schemeClr val="dk1"/>
                </a:solidFill>
              </a:rPr>
              <a:t>Intervalo de segurança “all red”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pt-BR" sz="1900">
                <a:solidFill>
                  <a:schemeClr val="dk1"/>
                </a:solidFill>
              </a:rPr>
              <a:t>Atendimento seguro de pedestres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pt-BR" sz="1900">
                <a:solidFill>
                  <a:schemeClr val="dk1"/>
                </a:solidFill>
              </a:rPr>
              <a:t>Emergência interrompe operação automática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pt-BR" sz="1900">
                <a:solidFill>
                  <a:schemeClr val="dk1"/>
                </a:solidFill>
              </a:rPr>
              <a:t>Sistema deve operar infinitamente sem deadlock</a:t>
            </a:r>
            <a:endParaRPr sz="19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99" name="Google Shape;99;g3a8cefe333f_0_70"/>
          <p:cNvSpPr txBox="1"/>
          <p:nvPr>
            <p:ph idx="2" type="body"/>
          </p:nvPr>
        </p:nvSpPr>
        <p:spPr>
          <a:xfrm>
            <a:off x="628650" y="4109625"/>
            <a:ext cx="6702000" cy="26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900">
                <a:solidFill>
                  <a:schemeClr val="dk1"/>
                </a:solidFill>
              </a:rPr>
              <a:t>Requisitos importantes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pt-BR" sz="1900">
                <a:solidFill>
                  <a:schemeClr val="dk1"/>
                </a:solidFill>
              </a:rPr>
              <a:t>RF-04 → exclusão mútua dos verdes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pt-BR" sz="1900">
                <a:solidFill>
                  <a:schemeClr val="dk1"/>
                </a:solidFill>
              </a:rPr>
              <a:t>RF-13 → pedestres somente com veículos parados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pt-BR" sz="1900">
                <a:solidFill>
                  <a:schemeClr val="dk1"/>
                </a:solidFill>
              </a:rPr>
              <a:t>RF-23 → fairness entre Rua A e Rua B</a:t>
            </a:r>
            <a:endParaRPr sz="19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0" name="Google Shape;100;g3a8cefe333f_0_7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8cefe333f_0_17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S</a:t>
            </a:r>
            <a:r>
              <a:rPr lang="pt-BR"/>
              <a:t>OFTWARE DO CONTROLADOR</a:t>
            </a:r>
            <a:endParaRPr/>
          </a:p>
        </p:txBody>
      </p:sp>
      <p:sp>
        <p:nvSpPr>
          <p:cNvPr id="106" name="Google Shape;106;g3a8cefe333f_0_17"/>
          <p:cNvSpPr txBox="1"/>
          <p:nvPr>
            <p:ph idx="1" type="body"/>
          </p:nvPr>
        </p:nvSpPr>
        <p:spPr>
          <a:xfrm>
            <a:off x="628650" y="1590575"/>
            <a:ext cx="4933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</a:rPr>
              <a:t>Implementação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Linguagem C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Máquina de estados finita temporizada</a:t>
            </a:r>
            <a:endParaRPr sz="2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07" name="Google Shape;107;g3a8cefe333f_0_1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3a8cefe333f_0_80" title="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475" y="84750"/>
            <a:ext cx="2497275" cy="337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a8cefe333f_0_80" title="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7475" y="3520759"/>
            <a:ext cx="2497275" cy="3308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a8cefe333f_0_80" title="3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2276" y="84751"/>
            <a:ext cx="2547142" cy="337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a8cefe333f_0_80" title="4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2275" y="3520750"/>
            <a:ext cx="2674210" cy="330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a8cefe333f_0_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6250" y="90750"/>
            <a:ext cx="3360079" cy="67385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a8cefe333f_0_8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8cefe333f_0_23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T</a:t>
            </a:r>
            <a:r>
              <a:rPr lang="pt-BR"/>
              <a:t>ESTES UNITÁRIOS</a:t>
            </a:r>
            <a:endParaRPr/>
          </a:p>
        </p:txBody>
      </p:sp>
      <p:sp>
        <p:nvSpPr>
          <p:cNvPr id="123" name="Google Shape;123;g3a8cefe333f_0_23"/>
          <p:cNvSpPr txBox="1"/>
          <p:nvPr>
            <p:ph idx="1" type="body"/>
          </p:nvPr>
        </p:nvSpPr>
        <p:spPr>
          <a:xfrm>
            <a:off x="628650" y="1446922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</a:rPr>
              <a:t>Estratégia de testes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Biblioteca Unity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Classes de equivalência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Validação individual das funções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</a:rPr>
              <a:t>Resultados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44 casos de teste implementados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0 falhas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0 testes ignorados</a:t>
            </a:r>
            <a:endParaRPr sz="2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24" name="Google Shape;124;g3a8cefe333f_0_2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8cefe333f_0_87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TESTES UNITÁRIOS</a:t>
            </a:r>
            <a:endParaRPr/>
          </a:p>
        </p:txBody>
      </p:sp>
      <p:sp>
        <p:nvSpPr>
          <p:cNvPr id="130" name="Google Shape;130;g3a8cefe333f_0_87"/>
          <p:cNvSpPr txBox="1"/>
          <p:nvPr>
            <p:ph type="title"/>
          </p:nvPr>
        </p:nvSpPr>
        <p:spPr>
          <a:xfrm>
            <a:off x="708850" y="983051"/>
            <a:ext cx="4197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 sz="2000"/>
              <a:t>Exemplo função updateOutputs()</a:t>
            </a:r>
            <a:endParaRPr sz="2000"/>
          </a:p>
        </p:txBody>
      </p:sp>
      <p:pic>
        <p:nvPicPr>
          <p:cNvPr id="131" name="Google Shape;131;g3a8cefe333f_0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2450" y="1437250"/>
            <a:ext cx="2288025" cy="51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a8cefe333f_0_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4580" y="1437250"/>
            <a:ext cx="2661470" cy="51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a8cefe333f_0_8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8cefe333f_0_153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TESTES UNITÁRIOS</a:t>
            </a:r>
            <a:endParaRPr/>
          </a:p>
        </p:txBody>
      </p:sp>
      <p:pic>
        <p:nvPicPr>
          <p:cNvPr id="139" name="Google Shape;139;g3a8cefe333f_0_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2375" y="1334776"/>
            <a:ext cx="4563269" cy="486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a8cefe333f_0_153"/>
          <p:cNvSpPr txBox="1"/>
          <p:nvPr>
            <p:ph type="title"/>
          </p:nvPr>
        </p:nvSpPr>
        <p:spPr>
          <a:xfrm>
            <a:off x="708850" y="983051"/>
            <a:ext cx="4197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 sz="2000"/>
              <a:t>Exemplo função updateOutputs()</a:t>
            </a:r>
            <a:endParaRPr sz="2000"/>
          </a:p>
        </p:txBody>
      </p:sp>
      <p:sp>
        <p:nvSpPr>
          <p:cNvPr id="141" name="Google Shape;141;g3a8cefe333f_0_15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8cefe333f_0_139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TESTES UNITÁRIOS</a:t>
            </a:r>
            <a:endParaRPr/>
          </a:p>
        </p:txBody>
      </p:sp>
      <p:sp>
        <p:nvSpPr>
          <p:cNvPr id="147" name="Google Shape;147;g3a8cefe333f_0_139"/>
          <p:cNvSpPr txBox="1"/>
          <p:nvPr>
            <p:ph type="title"/>
          </p:nvPr>
        </p:nvSpPr>
        <p:spPr>
          <a:xfrm>
            <a:off x="708850" y="983051"/>
            <a:ext cx="4197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 sz="2000"/>
              <a:t>Exemplo função updateOutputs()</a:t>
            </a:r>
            <a:endParaRPr sz="2000"/>
          </a:p>
        </p:txBody>
      </p:sp>
      <p:pic>
        <p:nvPicPr>
          <p:cNvPr id="148" name="Google Shape;148;g3a8cefe333f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600" y="1327601"/>
            <a:ext cx="5222846" cy="486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a8cefe333f_0_13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8cefe333f_0_193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TESTES UNITÁRIOS</a:t>
            </a:r>
            <a:endParaRPr/>
          </a:p>
        </p:txBody>
      </p:sp>
      <p:sp>
        <p:nvSpPr>
          <p:cNvPr id="155" name="Google Shape;155;g3a8cefe333f_0_193"/>
          <p:cNvSpPr txBox="1"/>
          <p:nvPr>
            <p:ph type="title"/>
          </p:nvPr>
        </p:nvSpPr>
        <p:spPr>
          <a:xfrm>
            <a:off x="708850" y="983051"/>
            <a:ext cx="4197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 sz="2000"/>
              <a:t>Exemplo função updateOutputs()</a:t>
            </a:r>
            <a:endParaRPr sz="2000"/>
          </a:p>
        </p:txBody>
      </p:sp>
      <p:sp>
        <p:nvSpPr>
          <p:cNvPr id="156" name="Google Shape;156;g3a8cefe333f_0_19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7" name="Google Shape;157;g3a8cefe333f_0_1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6125" y="1370576"/>
            <a:ext cx="3609675" cy="486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8cefe333f_0_146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TESTES UNITÁRIOS</a:t>
            </a:r>
            <a:endParaRPr/>
          </a:p>
        </p:txBody>
      </p:sp>
      <p:sp>
        <p:nvSpPr>
          <p:cNvPr id="163" name="Google Shape;163;g3a8cefe333f_0_146"/>
          <p:cNvSpPr txBox="1"/>
          <p:nvPr>
            <p:ph type="title"/>
          </p:nvPr>
        </p:nvSpPr>
        <p:spPr>
          <a:xfrm>
            <a:off x="708850" y="983051"/>
            <a:ext cx="41970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 sz="2000"/>
              <a:t>Exemplo função updateOutputs()</a:t>
            </a:r>
            <a:endParaRPr sz="2000"/>
          </a:p>
        </p:txBody>
      </p:sp>
      <p:pic>
        <p:nvPicPr>
          <p:cNvPr id="164" name="Google Shape;164;g3a8cefe333f_0_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375" y="1370551"/>
            <a:ext cx="5313034" cy="48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8cefe333f_0_14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8cefe333f_0_29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MODELAGEM DO SISTEMA</a:t>
            </a:r>
            <a:endParaRPr/>
          </a:p>
        </p:txBody>
      </p:sp>
      <p:sp>
        <p:nvSpPr>
          <p:cNvPr id="171" name="Google Shape;171;g3a8cefe333f_0_29"/>
          <p:cNvSpPr txBox="1"/>
          <p:nvPr>
            <p:ph idx="1" type="body"/>
          </p:nvPr>
        </p:nvSpPr>
        <p:spPr>
          <a:xfrm>
            <a:off x="628650" y="1446925"/>
            <a:ext cx="3769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</a:rPr>
              <a:t>Ferramenta utilizada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UPPAAL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Autômatos temporizados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</a:rPr>
              <a:t>Modelos criados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Controlador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Semáforo A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Semáforo B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Semáforo Pedestre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Botão de pedestre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Botão de emergência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72" name="Google Shape;172;g3a8cefe333f_0_29"/>
          <p:cNvSpPr txBox="1"/>
          <p:nvPr>
            <p:ph idx="2" type="body"/>
          </p:nvPr>
        </p:nvSpPr>
        <p:spPr>
          <a:xfrm>
            <a:off x="4602250" y="1523125"/>
            <a:ext cx="3769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</a:rPr>
              <a:t>Características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Sincronização via broadcast channels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Relógios temporizados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Representação fiel ao código em C</a:t>
            </a:r>
            <a:endParaRPr sz="2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73" name="Google Shape;173;g3a8cefe333f_0_2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8cefe333f_0_100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MODELAGEM DO SISTEMA</a:t>
            </a:r>
            <a:endParaRPr/>
          </a:p>
        </p:txBody>
      </p:sp>
      <p:pic>
        <p:nvPicPr>
          <p:cNvPr id="179" name="Google Shape;179;g3a8cefe333f_0_100" title="uppaal_controlad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00" y="1310375"/>
            <a:ext cx="8784126" cy="45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a8cefe333f_0_100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8cefe333f_0_94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MODELAGEM DO SISTEMA</a:t>
            </a:r>
            <a:endParaRPr/>
          </a:p>
        </p:txBody>
      </p:sp>
      <p:pic>
        <p:nvPicPr>
          <p:cNvPr id="186" name="Google Shape;186;g3a8cefe333f_0_94" title="uppaal_boto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6"/>
            <a:ext cx="8839199" cy="259239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a8cefe333f_0_94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8cefe333f_0_115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/>
              <a:t>MODELAGEM DO SISTEMA</a:t>
            </a:r>
            <a:endParaRPr/>
          </a:p>
        </p:txBody>
      </p:sp>
      <p:pic>
        <p:nvPicPr>
          <p:cNvPr id="193" name="Google Shape;193;g3a8cefe333f_0_115" title="uppaal_semafor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6"/>
            <a:ext cx="8839199" cy="248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a8cefe333f_0_11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8cefe333f_0_35"/>
          <p:cNvSpPr txBox="1"/>
          <p:nvPr>
            <p:ph type="title"/>
          </p:nvPr>
        </p:nvSpPr>
        <p:spPr>
          <a:xfrm>
            <a:off x="379575" y="365125"/>
            <a:ext cx="8622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4400"/>
              <a:buFont typeface="Arial"/>
              <a:buNone/>
            </a:pPr>
            <a:r>
              <a:rPr lang="pt-BR" sz="3700"/>
              <a:t>V</a:t>
            </a:r>
            <a:r>
              <a:rPr lang="pt-BR" sz="3700"/>
              <a:t>ERIFICAÇÃO FORMAL DO MODELO</a:t>
            </a:r>
            <a:endParaRPr sz="3700"/>
          </a:p>
        </p:txBody>
      </p:sp>
      <p:pic>
        <p:nvPicPr>
          <p:cNvPr id="200" name="Google Shape;200;g3a8cefe333f_0_35" title="uppaal_verificaca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75" y="1334750"/>
            <a:ext cx="8921900" cy="544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a8cefe333f_0_3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 txBox="1"/>
          <p:nvPr>
            <p:ph idx="1" type="body"/>
          </p:nvPr>
        </p:nvSpPr>
        <p:spPr>
          <a:xfrm>
            <a:off x="193637" y="1398588"/>
            <a:ext cx="8756726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818B"/>
              </a:buClr>
              <a:buSzPts val="2000"/>
              <a:buFont typeface="Arial"/>
              <a:buNone/>
            </a:pPr>
            <a:r>
              <a:rPr lang="pt-BR"/>
              <a:t>Obrigado</a:t>
            </a:r>
            <a:endParaRPr/>
          </a:p>
        </p:txBody>
      </p:sp>
      <p:sp>
        <p:nvSpPr>
          <p:cNvPr id="207" name="Google Shape;207;p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2014-05-15T19:13:18Z</dcterms:created>
  <dc:creator>GR</dc:creator>
</cp:coreProperties>
</file>